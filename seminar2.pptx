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87" r:id="rId1"/>
  </p:sldMasterIdLst>
  <p:notesMasterIdLst>
    <p:notesMasterId r:id="rId44"/>
  </p:notesMasterIdLst>
  <p:sldIdLst>
    <p:sldId id="281" r:id="rId2"/>
    <p:sldId id="266" r:id="rId3"/>
    <p:sldId id="258" r:id="rId4"/>
    <p:sldId id="259" r:id="rId5"/>
    <p:sldId id="260" r:id="rId6"/>
    <p:sldId id="282" r:id="rId7"/>
    <p:sldId id="302" r:id="rId8"/>
    <p:sldId id="305" r:id="rId9"/>
    <p:sldId id="306" r:id="rId10"/>
    <p:sldId id="307" r:id="rId11"/>
    <p:sldId id="308" r:id="rId12"/>
    <p:sldId id="309" r:id="rId13"/>
    <p:sldId id="303" r:id="rId14"/>
    <p:sldId id="304" r:id="rId15"/>
    <p:sldId id="315" r:id="rId16"/>
    <p:sldId id="320" r:id="rId17"/>
    <p:sldId id="310" r:id="rId18"/>
    <p:sldId id="311" r:id="rId19"/>
    <p:sldId id="312" r:id="rId20"/>
    <p:sldId id="313" r:id="rId21"/>
    <p:sldId id="316" r:id="rId22"/>
    <p:sldId id="317" r:id="rId23"/>
    <p:sldId id="318" r:id="rId24"/>
    <p:sldId id="319" r:id="rId25"/>
    <p:sldId id="321" r:id="rId26"/>
    <p:sldId id="322" r:id="rId27"/>
    <p:sldId id="291" r:id="rId28"/>
    <p:sldId id="283" r:id="rId29"/>
    <p:sldId id="285" r:id="rId30"/>
    <p:sldId id="278" r:id="rId31"/>
    <p:sldId id="270" r:id="rId32"/>
    <p:sldId id="273" r:id="rId33"/>
    <p:sldId id="286" r:id="rId34"/>
    <p:sldId id="292" r:id="rId35"/>
    <p:sldId id="293" r:id="rId36"/>
    <p:sldId id="294" r:id="rId37"/>
    <p:sldId id="295" r:id="rId38"/>
    <p:sldId id="296" r:id="rId39"/>
    <p:sldId id="265" r:id="rId40"/>
    <p:sldId id="289" r:id="rId41"/>
    <p:sldId id="264" r:id="rId42"/>
    <p:sldId id="301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28" autoAdjust="0"/>
    <p:restoredTop sz="94660"/>
  </p:normalViewPr>
  <p:slideViewPr>
    <p:cSldViewPr showGuides="1">
      <p:cViewPr varScale="1">
        <p:scale>
          <a:sx n="81" d="100"/>
          <a:sy n="81" d="100"/>
        </p:scale>
        <p:origin x="504" y="53"/>
      </p:cViewPr>
      <p:guideLst>
        <p:guide orient="horz" pos="2145"/>
        <p:guide pos="384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048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6004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06805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85902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92951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50340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24049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168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31322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6959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97071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4261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34751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33421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84928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962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8578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222408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CE2C6FB9-5BB1-4555-AADF-1B5064490187}" type="datetimeFigureOut">
              <a:rPr lang="en-US" smtClean="0"/>
              <a:t>6/27/2026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203B2F42-2DCF-4649-92EA-51ABC25B9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17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E6C01-4C4E-941B-3A0D-92737FEB8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>
            <a:extLst>
              <a:ext uri="{FF2B5EF4-FFF2-40B4-BE49-F238E27FC236}">
                <a16:creationId xmlns:a16="http://schemas.microsoft.com/office/drawing/2014/main" id="{83E846E0-46EB-5354-D9B9-3BEB5DAAC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34708" y="1357521"/>
            <a:ext cx="11868834" cy="4921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123296" tIns="61648" rIns="123296" bIns="61648" numCol="1" anchor="ctr" anchorCtr="0" compatLnSpc="1"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68C0D-4CE3-052B-3704-A0AE963826B8}"/>
              </a:ext>
            </a:extLst>
          </p:cNvPr>
          <p:cNvSpPr txBox="1"/>
          <p:nvPr/>
        </p:nvSpPr>
        <p:spPr>
          <a:xfrm>
            <a:off x="420246" y="796713"/>
            <a:ext cx="10513909" cy="132535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 </a:t>
            </a:r>
            <a:endParaRPr lang="en-US" dirty="0"/>
          </a:p>
        </p:txBody>
      </p:sp>
      <p:pic>
        <p:nvPicPr>
          <p:cNvPr id="6" name="Picture 5" descr="A logo with different symbols&#10;&#10;AI-generated content may be incorrect.">
            <a:extLst>
              <a:ext uri="{FF2B5EF4-FFF2-40B4-BE49-F238E27FC236}">
                <a16:creationId xmlns:a16="http://schemas.microsoft.com/office/drawing/2014/main" id="{95286BD0-F146-8DF9-9023-BF570BF59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" y="-71"/>
            <a:ext cx="1860251" cy="1933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E35929-F9CA-B639-30B0-75D737BEC1EA}"/>
              </a:ext>
            </a:extLst>
          </p:cNvPr>
          <p:cNvSpPr txBox="1"/>
          <p:nvPr/>
        </p:nvSpPr>
        <p:spPr>
          <a:xfrm>
            <a:off x="2045335" y="-26035"/>
            <a:ext cx="9105900" cy="1695450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413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Shri B.V.V. Sangha’s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413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  BASAVESHWAR ENGINEERING COLLEGE, BAGALKOTE</a:t>
            </a:r>
            <a:endParaRPr lang="en-US" sz="20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2413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[AICTE Approved, Government-Aided Institution Affiliated To VTU, Belagavi]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C09FD9-8450-A1A8-2F14-A224C14A46C3}"/>
              </a:ext>
            </a:extLst>
          </p:cNvPr>
          <p:cNvSpPr txBox="1"/>
          <p:nvPr/>
        </p:nvSpPr>
        <p:spPr>
          <a:xfrm>
            <a:off x="1676400" y="2163126"/>
            <a:ext cx="8936355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</a:t>
            </a:r>
            <a:r>
              <a:rPr lang="en-US" sz="1600" b="1" u="sng" dirty="0">
                <a:effectLst/>
                <a:latin typeface="Times New Roman" panose="02020603050405020304" charset="0"/>
                <a:ea typeface="Times New Roman" panose="02020603050405020304" charset="0"/>
              </a:rPr>
              <a:t>DEPARTMENT OF MCA</a:t>
            </a:r>
          </a:p>
          <a:p>
            <a:pPr marL="0" marR="0" algn="ctr">
              <a:spcBef>
                <a:spcPts val="200"/>
              </a:spcBef>
              <a:spcAft>
                <a:spcPts val="200"/>
              </a:spcAft>
              <a:buNone/>
            </a:pPr>
            <a:endParaRPr lang="en-US" sz="11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400" b="1" i="1" u="sng" kern="100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Seminar </a:t>
            </a:r>
            <a:r>
              <a:rPr lang="en-US" b="1" i="1" u="sng" kern="100" dirty="0">
                <a:solidFill>
                  <a:schemeClr val="tx1"/>
                </a:solidFill>
                <a:effectLst/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on</a:t>
            </a:r>
            <a:endParaRPr lang="en-US" sz="2000" b="1" i="1" kern="100" dirty="0">
              <a:solidFill>
                <a:schemeClr val="tx1"/>
              </a:solidFill>
              <a:latin typeface="Times New Roman" panose="02020603050405020304" charset="0"/>
              <a:ea typeface="Times New Roman" panose="02020603050405020304" charset="0"/>
              <a:cs typeface="Times New Roman" panose="02020603050405020304" charset="0"/>
            </a:endParaRPr>
          </a:p>
          <a:p>
            <a:pPr marL="0" marR="0" algn="ctr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0000"/>
                </a:solidFill>
                <a:latin typeface="Shonar Bangla" panose="02020603050405020304" pitchFamily="18" charset="0"/>
                <a:cs typeface="Shonar Bangla" panose="02020603050405020304" pitchFamily="18" charset="0"/>
                <a:sym typeface="+mn-ea"/>
              </a:rPr>
              <a:t>EXPLAINABLE DATA SCIENCE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38DF4E-73A2-45E1-7C9A-3DF16309952D}"/>
              </a:ext>
            </a:extLst>
          </p:cNvPr>
          <p:cNvSpPr txBox="1"/>
          <p:nvPr/>
        </p:nvSpPr>
        <p:spPr>
          <a:xfrm>
            <a:off x="2971593" y="3657685"/>
            <a:ext cx="6093090" cy="10655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u="sng" dirty="0">
                <a:effectLst/>
                <a:latin typeface="Times New Roman" panose="02020603050405020304" charset="0"/>
                <a:ea typeface="Times New Roman" panose="02020603050405020304" charset="0"/>
              </a:rPr>
              <a:t>MASTER OF COMPUTER APPLICATIONS</a:t>
            </a:r>
          </a:p>
          <a:p>
            <a:pPr marL="0" marR="0" algn="ctr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2000" b="1" u="sng" dirty="0">
                <a:effectLst/>
                <a:latin typeface="Times New Roman" panose="02020603050405020304" charset="0"/>
                <a:ea typeface="Times New Roman" panose="02020603050405020304" charset="0"/>
              </a:rPr>
              <a:t>2025-2026</a:t>
            </a:r>
            <a:endParaRPr lang="en-US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14A422-5633-5413-485A-1E90BAA72ED2}"/>
              </a:ext>
            </a:extLst>
          </p:cNvPr>
          <p:cNvSpPr txBox="1"/>
          <p:nvPr/>
        </p:nvSpPr>
        <p:spPr>
          <a:xfrm>
            <a:off x="1461135" y="5073650"/>
            <a:ext cx="1031113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algn="just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Guide   	      	                      </a:t>
            </a:r>
            <a:r>
              <a:rPr lang="en-US" b="1" dirty="0">
                <a:solidFill>
                  <a:srgbClr val="FF0000"/>
                </a:solidFill>
                <a:latin typeface="Times New Roman" panose="02020603050405020304" charset="0"/>
                <a:ea typeface="Times New Roman" panose="02020603050405020304" charset="0"/>
              </a:rPr>
              <a:t>Seminar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 Coordinator  </a:t>
            </a:r>
            <a:r>
              <a:rPr lang="en-US" sz="1600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                     </a:t>
            </a:r>
            <a:r>
              <a:rPr lang="en-US" sz="1600" b="1" i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</a:t>
            </a:r>
            <a:r>
              <a:rPr lang="en-US" b="1" dirty="0">
                <a:solidFill>
                  <a:srgbClr val="FF0000"/>
                </a:solidFill>
                <a:effectLst/>
                <a:latin typeface="Times New Roman" panose="02020603050405020304" charset="0"/>
                <a:ea typeface="Times New Roman" panose="02020603050405020304" charset="0"/>
              </a:rPr>
              <a:t>HOD       </a:t>
            </a:r>
            <a:r>
              <a:rPr lang="en-US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	              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 algn="just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Prof. </a:t>
            </a:r>
            <a:r>
              <a:rPr lang="en-US" b="1" dirty="0">
                <a:latin typeface="Times New Roman" panose="02020603050405020304" charset="0"/>
                <a:ea typeface="Times New Roman" panose="02020603050405020304" charset="0"/>
              </a:rPr>
              <a:t>M. H. </a:t>
            </a:r>
            <a:r>
              <a:rPr lang="en-US" b="1" dirty="0" err="1">
                <a:latin typeface="Times New Roman" panose="02020603050405020304" charset="0"/>
                <a:ea typeface="Times New Roman" panose="02020603050405020304" charset="0"/>
              </a:rPr>
              <a:t>Shirur</a:t>
            </a:r>
            <a:r>
              <a:rPr lang="en-US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                 Prof. </a:t>
            </a:r>
            <a:r>
              <a:rPr lang="en-US" b="1" dirty="0">
                <a:latin typeface="Times New Roman" panose="02020603050405020304" charset="0"/>
                <a:ea typeface="Times New Roman" panose="02020603050405020304" charset="0"/>
              </a:rPr>
              <a:t>Karuna </a:t>
            </a:r>
            <a:r>
              <a:rPr lang="en-US" b="1" dirty="0" err="1">
                <a:latin typeface="Times New Roman" panose="02020603050405020304" charset="0"/>
                <a:ea typeface="Times New Roman" panose="02020603050405020304" charset="0"/>
              </a:rPr>
              <a:t>Kurbet</a:t>
            </a:r>
            <a:r>
              <a:rPr lang="en-US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    	      	                 Prof. S. M. Magi   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200"/>
              </a:spcBef>
              <a:spcAft>
                <a:spcPts val="200"/>
              </a:spcAft>
              <a:buNone/>
              <a:tabLst>
                <a:tab pos="4295140" algn="l"/>
              </a:tabLst>
            </a:pPr>
            <a:r>
              <a:rPr lang="en-US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	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marR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b="1" i="1" dirty="0">
                <a:effectLst/>
                <a:latin typeface="Times New Roman" panose="02020603050405020304" charset="0"/>
                <a:ea typeface="Times New Roman" panose="02020603050405020304" charset="0"/>
              </a:rPr>
              <a:t>Submitted by</a:t>
            </a:r>
            <a:r>
              <a:rPr lang="en-US" i="1" dirty="0">
                <a:latin typeface="Arial" panose="020B0604020202020204" pitchFamily="34" charset="0"/>
                <a:ea typeface="Times New Roman" panose="02020603050405020304" charset="0"/>
              </a:rPr>
              <a:t>: </a:t>
            </a:r>
            <a:r>
              <a:rPr lang="en-US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b="1" dirty="0">
                <a:latin typeface="Times New Roman" panose="02020603050405020304" charset="0"/>
                <a:ea typeface="Times New Roman" panose="02020603050405020304" charset="0"/>
                <a:cs typeface="Times New Roman" panose="02020603050405020304" charset="0"/>
              </a:rPr>
              <a:t>Keerti Hosamani</a:t>
            </a:r>
            <a:r>
              <a:rPr lang="en-US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 </a:t>
            </a:r>
          </a:p>
          <a:p>
            <a:pPr marL="0" marR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b="1" dirty="0">
                <a:effectLst/>
                <a:latin typeface="Times New Roman" panose="02020603050405020304" charset="0"/>
                <a:ea typeface="Times New Roman" panose="02020603050405020304" charset="0"/>
              </a:rPr>
              <a:t>USN:2BA24MC014</a:t>
            </a:r>
            <a:endParaRPr lang="en-US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655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11430000" cy="944562"/>
          </a:xfrm>
        </p:spPr>
        <p:txBody>
          <a:bodyPr>
            <a:noAutofit/>
          </a:bodyPr>
          <a:lstStyle/>
          <a:p>
            <a:pPr algn="l"/>
            <a:br>
              <a:rPr lang="en-US" sz="8000" dirty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8000" dirty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8000" dirty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8000" dirty="0">
                <a:latin typeface="Times New Roman" panose="02020603050405020304" charset="0"/>
                <a:cs typeface="Times New Roman" panose="02020603050405020304" charset="0"/>
              </a:rPr>
            </a:br>
            <a:endParaRPr lang="en-US" sz="8000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E27063-595E-1D1C-7486-49D082D79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401114"/>
            <a:ext cx="6042870" cy="6202362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DEEFA3-28D5-E103-C23A-286EEEA2E146}"/>
              </a:ext>
            </a:extLst>
          </p:cNvPr>
          <p:cNvSpPr txBox="1"/>
          <p:nvPr/>
        </p:nvSpPr>
        <p:spPr>
          <a:xfrm>
            <a:off x="1219200" y="2798168"/>
            <a:ext cx="79248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Explainable</a:t>
            </a:r>
            <a:endParaRPr lang="en-IN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0"/>
            <a:ext cx="10439400" cy="1417638"/>
          </a:xfrm>
        </p:spPr>
        <p:txBody>
          <a:bodyPr>
            <a:normAutofit/>
          </a:bodyPr>
          <a:lstStyle/>
          <a:p>
            <a:pPr algn="l"/>
            <a:r>
              <a:rPr lang="en-US" sz="36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Introduction To Data </a:t>
            </a:r>
            <a:r>
              <a:rPr lang="en-IN" sz="36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Science:</a:t>
            </a:r>
            <a:endParaRPr lang="en-US" sz="36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64910DA-E01B-4C43-4B3E-CE4864719ED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541251"/>
            <a:ext cx="10439400" cy="63858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is a field where we use data to find useful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in making decisions using data, like predicting results or trends.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Today, many systems use machine learning models to make decisions.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 most of these models are complex and difficult to understand.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Sometimes, we get results from these models, but we don’t know how the result came.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creates confusion and lack of trust.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381000"/>
            <a:ext cx="10668263" cy="1066604"/>
          </a:xfrm>
        </p:spPr>
        <p:txBody>
          <a:bodyPr>
            <a:normAutofit/>
          </a:bodyPr>
          <a:lstStyle/>
          <a:p>
            <a:pPr algn="l"/>
            <a:r>
              <a:rPr lang="en-IN" sz="4000" b="1" u="sng" dirty="0">
                <a:solidFill>
                  <a:schemeClr val="tx1"/>
                </a:solidFill>
              </a:rPr>
              <a:t>Cont’d</a:t>
            </a:r>
            <a:endParaRPr lang="en-US" sz="4000" b="1" u="sng" dirty="0">
              <a:solidFill>
                <a:schemeClr val="tx1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48D8D6E-983E-5393-05B5-2B3420F969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7936" y="1578217"/>
            <a:ext cx="10668263" cy="48753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Explainable Data Science makes models easy to understand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explains how and why a result is given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increases transparency and trust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helps humans understand decisions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838200"/>
            <a:ext cx="10940592" cy="914400"/>
          </a:xfrm>
        </p:spPr>
        <p:txBody>
          <a:bodyPr>
            <a:noAutofit/>
          </a:bodyPr>
          <a:lstStyle/>
          <a:p>
            <a:pPr algn="l"/>
            <a:r>
              <a:rPr lang="en-IN" sz="4400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Objective</a:t>
            </a:r>
            <a:r>
              <a:rPr lang="en-US" sz="4400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s </a:t>
            </a:r>
            <a:r>
              <a:rPr lang="en-US" sz="44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:</a:t>
            </a:r>
            <a:br>
              <a:rPr lang="en-US" sz="44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endParaRPr lang="en-US" sz="44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130934"/>
            <a:ext cx="12149736" cy="550322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sz="2400" b="1" dirty="0"/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how and why results are generated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reasoning behind AI outputs.</a:t>
            </a:r>
            <a:b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the logic used by the model.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Build trust in AI systems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Transparent systems make users feel more confident.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increases adoption and acceptance of AI.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EBAEAA-8023-3128-320E-68D21F8DBD1A}"/>
              </a:ext>
            </a:extLst>
          </p:cNvPr>
          <p:cNvSpPr txBox="1"/>
          <p:nvPr/>
        </p:nvSpPr>
        <p:spPr>
          <a:xfrm>
            <a:off x="1066800" y="609600"/>
            <a:ext cx="10363200" cy="6478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reduce errors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Explanations reveal mistakes or unexpected behavior.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developers fix and improve model performance.</a:t>
            </a:r>
          </a:p>
          <a:p>
            <a:pPr>
              <a:lnSpc>
                <a:spcPct val="150000"/>
              </a:lnSpc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Ensure fairness and avoid bias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any biased patterns in decisions.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fair and ethical AI outcomes.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6732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946751-E8BB-8B16-1E04-8D00F12A5762}"/>
              </a:ext>
            </a:extLst>
          </p:cNvPr>
          <p:cNvSpPr txBox="1"/>
          <p:nvPr/>
        </p:nvSpPr>
        <p:spPr>
          <a:xfrm>
            <a:off x="990600" y="1371600"/>
            <a:ext cx="102108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Explainable Data Science Architecture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just a way of designing data systems so that people can understand how decisions are made — not just get results</a:t>
            </a:r>
            <a:r>
              <a:rPr lang="en-US" sz="3200" dirty="0"/>
              <a:t>.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“explainable” mean?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don’t just predict (like “loan approved ❌”)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also explain why (e.g., “low income + high existing debt”)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10D2B8-47D1-D26E-C7A7-F4F7B5357A09}"/>
              </a:ext>
            </a:extLst>
          </p:cNvPr>
          <p:cNvSpPr txBox="1"/>
          <p:nvPr/>
        </p:nvSpPr>
        <p:spPr>
          <a:xfrm>
            <a:off x="1295400" y="474851"/>
            <a:ext cx="86082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Data Science Architecture: </a:t>
            </a:r>
            <a:endParaRPr lang="en-IN" sz="32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868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F6D3D-2ED7-CD4E-4A13-D6B1ACFC0508}"/>
              </a:ext>
            </a:extLst>
          </p:cNvPr>
          <p:cNvSpPr txBox="1"/>
          <p:nvPr/>
        </p:nvSpPr>
        <p:spPr>
          <a:xfrm>
            <a:off x="838200" y="228600"/>
            <a:ext cx="990600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Architecture (Step-by-step)</a:t>
            </a: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Data Collection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Gather data from sources (apps, sensors, databases)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customer age, income, purchase history 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Get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and relevant data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Data Processing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 missing values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errors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 data into usable format 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Make data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for analysis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62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F15FC7-509C-86C3-E376-871C4D980BF3}"/>
              </a:ext>
            </a:extLst>
          </p:cNvPr>
          <p:cNvSpPr txBox="1"/>
          <p:nvPr/>
        </p:nvSpPr>
        <p:spPr>
          <a:xfrm>
            <a:off x="685800" y="751820"/>
            <a:ext cx="10591800" cy="6272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a machine learning model (like decision tree, regression)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learns patterns from data 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Make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Explainability Layer 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what makes it “explainable”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Tools/techniques: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importance (which factors matter most?)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to explain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explanations 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just saying: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“Customer will churn”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says: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“Customer likely to churn because: low usage + many complaints”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4F64D8-AF4C-0643-5817-E2CBFDF821B0}"/>
              </a:ext>
            </a:extLst>
          </p:cNvPr>
          <p:cNvSpPr txBox="1"/>
          <p:nvPr/>
        </p:nvSpPr>
        <p:spPr>
          <a:xfrm>
            <a:off x="609600" y="228600"/>
            <a:ext cx="86844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3.  Model Building</a:t>
            </a:r>
          </a:p>
        </p:txBody>
      </p:sp>
    </p:spTree>
    <p:extLst>
      <p:ext uri="{BB962C8B-B14F-4D97-AF65-F5344CB8AC3E}">
        <p14:creationId xmlns:p14="http://schemas.microsoft.com/office/powerpoint/2010/main" val="3028079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2B86DA-1CE3-2D2E-F0A6-5FF70DE25557}"/>
              </a:ext>
            </a:extLst>
          </p:cNvPr>
          <p:cNvSpPr txBox="1"/>
          <p:nvPr/>
        </p:nvSpPr>
        <p:spPr>
          <a:xfrm>
            <a:off x="990600" y="228600"/>
            <a:ext cx="10210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Visualization &amp; Reporting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results in dashboards or charts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human-friendly explanations 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Help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non-technical people understand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Deployment &amp;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the model in real applications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checking: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still accurate?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explanations still valid? 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Goal: Ensure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trust over time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849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CB265E9-7E6B-393F-8990-06FF9037E608}"/>
              </a:ext>
            </a:extLst>
          </p:cNvPr>
          <p:cNvSpPr txBox="1"/>
          <p:nvPr/>
        </p:nvSpPr>
        <p:spPr>
          <a:xfrm>
            <a:off x="1061301" y="228600"/>
            <a:ext cx="9753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a bank system: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says: “Loan rejected”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Explainable system says: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Income too low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score below threshold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existing loans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Now the user understands what to improve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A472E-222B-01EB-343A-DBDBCED4245D}"/>
              </a:ext>
            </a:extLst>
          </p:cNvPr>
          <p:cNvSpPr txBox="1"/>
          <p:nvPr/>
        </p:nvSpPr>
        <p:spPr>
          <a:xfrm>
            <a:off x="1066800" y="4038600"/>
            <a:ext cx="807484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 </a:t>
            </a:r>
            <a:r>
              <a:rPr lang="en-US" sz="2800" b="1" dirty="0"/>
              <a:t>Another Tiny Example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1" dirty="0"/>
              <a:t>Prediction:</a:t>
            </a:r>
            <a:r>
              <a:rPr lang="en-US" sz="2800" dirty="0"/>
              <a:t> “You may be late to work”</a:t>
            </a:r>
            <a:br>
              <a:rPr lang="en-US" sz="2800" dirty="0"/>
            </a:b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Traffic is high 🚦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You left home late ⏰</a:t>
            </a:r>
          </a:p>
        </p:txBody>
      </p:sp>
    </p:spTree>
    <p:extLst>
      <p:ext uri="{BB962C8B-B14F-4D97-AF65-F5344CB8AC3E}">
        <p14:creationId xmlns:p14="http://schemas.microsoft.com/office/powerpoint/2010/main" val="2469511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F92D2DB-2382-FF29-089D-D5CF2083201D}"/>
              </a:ext>
            </a:extLst>
          </p:cNvPr>
          <p:cNvSpPr txBox="1"/>
          <p:nvPr/>
        </p:nvSpPr>
        <p:spPr>
          <a:xfrm>
            <a:off x="914400" y="1146852"/>
            <a:ext cx="105918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 Algorithm: Decision Tree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Decision Tree is one of the easiest and most explainable algorithms.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works like a series of simple questions (yes/no) to make a decision.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Example: Will you eat an apple?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asks questions like: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apple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→ go next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→ ❌ Don’t eat 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sweet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 → ✅ Eat 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→ ❌ Don’t eat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DE12B-E328-F5BA-FAF7-6F2347B2D292}"/>
              </a:ext>
            </a:extLst>
          </p:cNvPr>
          <p:cNvSpPr txBox="1"/>
          <p:nvPr/>
        </p:nvSpPr>
        <p:spPr>
          <a:xfrm>
            <a:off x="685800" y="152400"/>
            <a:ext cx="10058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 data science algorithm is a step-by-step method used to analyze data, find patterns, and make predictions.</a:t>
            </a:r>
            <a:endParaRPr lang="en-IN" sz="28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19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164A12-743B-73E7-2C5B-F620204B62BD}"/>
              </a:ext>
            </a:extLst>
          </p:cNvPr>
          <p:cNvSpPr txBox="1"/>
          <p:nvPr/>
        </p:nvSpPr>
        <p:spPr>
          <a:xfrm>
            <a:off x="3061355" y="2286000"/>
            <a:ext cx="60944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apple fresh?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├── No → Don’t eat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└── Yes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├── Is it sweet?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├── Yes → Eat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└── No → Don’t eat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9D3A21-D99F-388A-75A6-6B6716BFB7DA}"/>
              </a:ext>
            </a:extLst>
          </p:cNvPr>
          <p:cNvSpPr txBox="1"/>
          <p:nvPr/>
        </p:nvSpPr>
        <p:spPr>
          <a:xfrm>
            <a:off x="762000" y="1143000"/>
            <a:ext cx="8379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🌳 Looks like a Tree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108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17639-7FB0-61AA-1028-8FB22BC49B3E}"/>
              </a:ext>
            </a:extLst>
          </p:cNvPr>
          <p:cNvSpPr txBox="1"/>
          <p:nvPr/>
        </p:nvSpPr>
        <p:spPr>
          <a:xfrm>
            <a:off x="1790700" y="990600"/>
            <a:ext cx="86106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it explainable?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see every step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know exactly why the decision was made </a:t>
            </a:r>
          </a:p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Example explanation:</a:t>
            </a:r>
          </a:p>
          <a:p>
            <a:pPr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“Eat the apple because it is fresh AND sweet”</a:t>
            </a:r>
          </a:p>
        </p:txBody>
      </p:sp>
    </p:spTree>
    <p:extLst>
      <p:ext uri="{BB962C8B-B14F-4D97-AF65-F5344CB8AC3E}">
        <p14:creationId xmlns:p14="http://schemas.microsoft.com/office/powerpoint/2010/main" val="19537017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E67143-0EB4-0941-8A64-FCC4E58527AD}"/>
              </a:ext>
            </a:extLst>
          </p:cNvPr>
          <p:cNvSpPr txBox="1"/>
          <p:nvPr/>
        </p:nvSpPr>
        <p:spPr>
          <a:xfrm>
            <a:off x="838200" y="381000"/>
            <a:ext cx="83034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Decision tree works like a flowchart with yes/no conditions.</a:t>
            </a:r>
            <a:endParaRPr lang="en-IN" dirty="0"/>
          </a:p>
        </p:txBody>
      </p:sp>
      <p:pic>
        <p:nvPicPr>
          <p:cNvPr id="1026" name="Picture 2" descr="The Best Guide On How To Implement Decision Tree In Python">
            <a:extLst>
              <a:ext uri="{FF2B5EF4-FFF2-40B4-BE49-F238E27FC236}">
                <a16:creationId xmlns:a16="http://schemas.microsoft.com/office/drawing/2014/main" id="{C034CE13-946E-5CF3-09DA-836D2C365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89165"/>
            <a:ext cx="5224463" cy="48020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609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7A94C5-7B6A-7711-3AC6-C7AA6838AECD}"/>
              </a:ext>
            </a:extLst>
          </p:cNvPr>
          <p:cNvSpPr txBox="1"/>
          <p:nvPr/>
        </p:nvSpPr>
        <p:spPr>
          <a:xfrm>
            <a:off x="762000" y="-762000"/>
            <a:ext cx="9982200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2000" b="1" dirty="0"/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pass or fail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sklearn.tree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DecisionTreeClassifier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Input Data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[[1],[2],[3],[4],[5]]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Output Data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['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Fail','Fail','Pass','Pass','Pass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']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Model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DecisionTreeClassifier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Train Model</a:t>
            </a:r>
          </a:p>
          <a:p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Predict New Student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([[4]])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print("Prediction:", prediction[0])</a:t>
            </a:r>
          </a:p>
        </p:txBody>
      </p:sp>
    </p:spTree>
    <p:extLst>
      <p:ext uri="{BB962C8B-B14F-4D97-AF65-F5344CB8AC3E}">
        <p14:creationId xmlns:p14="http://schemas.microsoft.com/office/powerpoint/2010/main" val="2169268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0C9BB6-67BE-CA85-2FCE-E8E141053887}"/>
              </a:ext>
            </a:extLst>
          </p:cNvPr>
          <p:cNvSpPr txBox="1"/>
          <p:nvPr/>
        </p:nvSpPr>
        <p:spPr>
          <a:xfrm>
            <a:off x="457200" y="304800"/>
            <a:ext cx="10287000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K-Means Clustering → Grouping Similar Things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Example</a:t>
            </a:r>
            <a:r>
              <a:rPr lang="en-US" sz="2800" dirty="0">
                <a:solidFill>
                  <a:srgbClr val="FF0000"/>
                </a:solidFill>
              </a:rPr>
              <a:t>:</a:t>
            </a:r>
            <a:br>
              <a:rPr lang="en-US" sz="3200" dirty="0"/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Grouping students based on marks.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scorers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students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scorers </a:t>
            </a:r>
          </a:p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explanation: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“This algorithm groups similar data together.”</a:t>
            </a:r>
          </a:p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Real-life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grouping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recommendation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analysis</a:t>
            </a:r>
          </a:p>
        </p:txBody>
      </p:sp>
    </p:spTree>
    <p:extLst>
      <p:ext uri="{BB962C8B-B14F-4D97-AF65-F5344CB8AC3E}">
        <p14:creationId xmlns:p14="http://schemas.microsoft.com/office/powerpoint/2010/main" val="2523109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lustering Algorithm. Clustering is a Machine Learning… | by Rishabh Mall | Medium">
            <a:extLst>
              <a:ext uri="{FF2B5EF4-FFF2-40B4-BE49-F238E27FC236}">
                <a16:creationId xmlns:a16="http://schemas.microsoft.com/office/drawing/2014/main" id="{5309BCE8-4373-469D-72DB-9DD957CD7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9675"/>
            <a:ext cx="10134600" cy="5370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36552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6D0D0E-EAFA-AEE5-2BCB-46F397D3149F}"/>
              </a:ext>
            </a:extLst>
          </p:cNvPr>
          <p:cNvSpPr txBox="1"/>
          <p:nvPr/>
        </p:nvSpPr>
        <p:spPr>
          <a:xfrm>
            <a:off x="990600" y="533400"/>
            <a:ext cx="99822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K-Nearest Neighbors (KNN) – Simple Explanation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dirty="0"/>
              <a:t>“KNN is a data science algorithm used to find similar things.”</a:t>
            </a:r>
          </a:p>
          <a:p>
            <a:pPr>
              <a:buNone/>
            </a:pPr>
            <a:endParaRPr lang="en-US" sz="2800" dirty="0"/>
          </a:p>
          <a:p>
            <a:pPr>
              <a:buNone/>
            </a:pPr>
            <a:r>
              <a:rPr lang="en-US" sz="2800" b="1" dirty="0"/>
              <a:t>Very simple meaning:</a:t>
            </a:r>
          </a:p>
          <a:p>
            <a:pPr>
              <a:buNone/>
            </a:pPr>
            <a:r>
              <a:rPr lang="en-US" sz="2800" dirty="0"/>
              <a:t>“It checks nearby similar data and gives result based on that.”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81DACB-B230-F56F-67D6-9CF40D970CBC}"/>
              </a:ext>
            </a:extLst>
          </p:cNvPr>
          <p:cNvSpPr txBox="1"/>
          <p:nvPr/>
        </p:nvSpPr>
        <p:spPr>
          <a:xfrm>
            <a:off x="838200" y="3658729"/>
            <a:ext cx="9144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So What is K Exactly?</a:t>
            </a:r>
          </a:p>
          <a:p>
            <a:pPr>
              <a:buNone/>
            </a:pPr>
            <a:endParaRPr lang="en-US" sz="2800" b="1" dirty="0"/>
          </a:p>
          <a:p>
            <a:pPr>
              <a:buNone/>
            </a:pPr>
            <a:r>
              <a:rPr lang="en-US" sz="2800" dirty="0"/>
              <a:t>K means:</a:t>
            </a:r>
          </a:p>
          <a:p>
            <a:pPr>
              <a:buNone/>
            </a:pPr>
            <a:r>
              <a:rPr lang="en-US" sz="2800" dirty="0"/>
              <a:t>👉 </a:t>
            </a:r>
            <a:r>
              <a:rPr lang="en-US" sz="2800" dirty="0">
                <a:solidFill>
                  <a:srgbClr val="00B050"/>
                </a:solidFill>
              </a:rPr>
              <a:t>Number of nearest data points we check before deciding.</a:t>
            </a:r>
          </a:p>
        </p:txBody>
      </p:sp>
    </p:spTree>
    <p:extLst>
      <p:ext uri="{BB962C8B-B14F-4D97-AF65-F5344CB8AC3E}">
        <p14:creationId xmlns:p14="http://schemas.microsoft.com/office/powerpoint/2010/main" val="3628569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K-Nearest Neighbors Algorithm. Hello readers , this blog explains… | by RADIO SAYS Arpit pathak | ML_with_Arpit_Pathak | Medium">
            <a:extLst>
              <a:ext uri="{FF2B5EF4-FFF2-40B4-BE49-F238E27FC236}">
                <a16:creationId xmlns:a16="http://schemas.microsoft.com/office/drawing/2014/main" id="{2769F4EC-47DF-BAA1-8894-8B7E29D266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928688"/>
            <a:ext cx="6553200" cy="5000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8871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A28224-3014-C626-0E18-1F6880ADD246}"/>
              </a:ext>
            </a:extLst>
          </p:cNvPr>
          <p:cNvSpPr txBox="1"/>
          <p:nvPr/>
        </p:nvSpPr>
        <p:spPr>
          <a:xfrm>
            <a:off x="1066800" y="674400"/>
            <a:ext cx="90678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Example in Simple Words</a:t>
            </a:r>
          </a:p>
          <a:p>
            <a:pPr>
              <a:buNone/>
            </a:pPr>
            <a:r>
              <a:rPr lang="en-US" sz="3200" dirty="0"/>
              <a:t>If:</a:t>
            </a:r>
          </a:p>
          <a:p>
            <a:pPr rtl="0">
              <a:buNone/>
            </a:pPr>
            <a:r>
              <a:rPr lang="en-US" sz="3200" dirty="0">
                <a:latin typeface="Courier New" panose="02070309020205020404" pitchFamily="49" charset="0"/>
              </a:rPr>
              <a:t>K = 3</a:t>
            </a:r>
          </a:p>
          <a:p>
            <a:pPr>
              <a:buNone/>
            </a:pPr>
            <a:r>
              <a:rPr lang="en-US" sz="3200" dirty="0"/>
              <a:t>Computer checks nearest 3 neighbors.</a:t>
            </a:r>
          </a:p>
          <a:p>
            <a:pPr>
              <a:buNone/>
            </a:pPr>
            <a:r>
              <a:rPr lang="en-US" sz="3200" dirty="0"/>
              <a:t>If: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2 are Pass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1 is Fail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None/>
            </a:pPr>
            <a:r>
              <a:rPr lang="en-US" sz="3200" b="1" dirty="0"/>
              <a:t>Final prediction:</a:t>
            </a:r>
            <a:br>
              <a:rPr lang="en-US" sz="3200" b="1" dirty="0"/>
            </a:br>
            <a:r>
              <a:rPr lang="en-US" sz="3200" b="1" dirty="0"/>
              <a:t>👉 Pass</a:t>
            </a:r>
          </a:p>
          <a:p>
            <a:pPr>
              <a:buNone/>
            </a:pPr>
            <a:r>
              <a:rPr lang="en-US" sz="3200" dirty="0"/>
              <a:t>Because majority is Pass.</a:t>
            </a:r>
          </a:p>
        </p:txBody>
      </p:sp>
    </p:spTree>
    <p:extLst>
      <p:ext uri="{BB962C8B-B14F-4D97-AF65-F5344CB8AC3E}">
        <p14:creationId xmlns:p14="http://schemas.microsoft.com/office/powerpoint/2010/main" val="1477539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854ABD-4053-284D-5EBE-8D7D243C9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90049"/>
              </p:ext>
            </p:extLst>
          </p:nvPr>
        </p:nvGraphicFramePr>
        <p:xfrm>
          <a:off x="1447800" y="2948781"/>
          <a:ext cx="10134600" cy="259080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8631062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4161754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9163700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Student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Study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2451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00B0F0"/>
                          </a:solidFill>
                        </a:rPr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00B050"/>
                          </a:solidFill>
                        </a:rPr>
                        <a:t>1 hour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0070C0"/>
                          </a:solidFill>
                        </a:rPr>
                        <a:t>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97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00B0F0"/>
                          </a:solidFill>
                        </a:rPr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00B050"/>
                          </a:solidFill>
                        </a:rPr>
                        <a:t>2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0070C0"/>
                          </a:solidFill>
                        </a:rPr>
                        <a:t>Fail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77557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00B0F0"/>
                          </a:solidFill>
                        </a:rPr>
                        <a:t>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00B050"/>
                          </a:solidFill>
                        </a:rPr>
                        <a:t>5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>
                          <a:solidFill>
                            <a:srgbClr val="0070C0"/>
                          </a:solidFill>
                        </a:rPr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1656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00B0F0"/>
                          </a:solidFill>
                        </a:rPr>
                        <a:t>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00B050"/>
                          </a:solidFill>
                        </a:rPr>
                        <a:t>6 hours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dirty="0">
                          <a:solidFill>
                            <a:srgbClr val="0070C0"/>
                          </a:solidFill>
                        </a:rPr>
                        <a:t>Pass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789709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EB6356FB-AC8C-BB10-A805-6C19A4390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22354"/>
            <a:ext cx="12420600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Step 1: Collect Old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Now a new student studies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 hours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 want to predict: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👉 Pass or Fail?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64E1C-AC0A-0D10-DD05-87F4FC506002}"/>
              </a:ext>
            </a:extLst>
          </p:cNvPr>
          <p:cNvSpPr txBox="1"/>
          <p:nvPr/>
        </p:nvSpPr>
        <p:spPr>
          <a:xfrm>
            <a:off x="6248400" y="1318420"/>
            <a:ext cx="335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 = 3</a:t>
            </a:r>
          </a:p>
        </p:txBody>
      </p:sp>
    </p:spTree>
    <p:extLst>
      <p:ext uri="{BB962C8B-B14F-4D97-AF65-F5344CB8AC3E}">
        <p14:creationId xmlns:p14="http://schemas.microsoft.com/office/powerpoint/2010/main" val="3512615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A04F68D-8118-A335-46D3-87C335E9CC74}"/>
              </a:ext>
            </a:extLst>
          </p:cNvPr>
          <p:cNvSpPr txBox="1"/>
          <p:nvPr/>
        </p:nvSpPr>
        <p:spPr>
          <a:xfrm>
            <a:off x="1676400" y="1295400"/>
            <a:ext cx="74652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4000" b="1" dirty="0"/>
              <a:t>Step : Count Majority</a:t>
            </a:r>
          </a:p>
          <a:p>
            <a:pPr>
              <a:buNone/>
            </a:pPr>
            <a:endParaRPr lang="en-US" sz="4000" b="1" dirty="0"/>
          </a:p>
          <a:p>
            <a:pPr>
              <a:buNone/>
            </a:pPr>
            <a:r>
              <a:rPr lang="en-US" sz="4000" dirty="0"/>
              <a:t>Among nearest 3 students: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Pass = 2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4000" dirty="0"/>
              <a:t>Fail = 1 </a:t>
            </a:r>
          </a:p>
          <a:p>
            <a:pPr>
              <a:buNone/>
            </a:pPr>
            <a:r>
              <a:rPr lang="en-US" sz="4000" b="1" dirty="0">
                <a:solidFill>
                  <a:srgbClr val="0070C0"/>
                </a:solidFill>
              </a:rPr>
              <a:t>Pass has higher count.</a:t>
            </a:r>
          </a:p>
        </p:txBody>
      </p:sp>
    </p:spTree>
    <p:extLst>
      <p:ext uri="{BB962C8B-B14F-4D97-AF65-F5344CB8AC3E}">
        <p14:creationId xmlns:p14="http://schemas.microsoft.com/office/powerpoint/2010/main" val="29564247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E2F610-0881-0CA8-4928-57FAB073039E}"/>
              </a:ext>
            </a:extLst>
          </p:cNvPr>
          <p:cNvSpPr txBox="1"/>
          <p:nvPr/>
        </p:nvSpPr>
        <p:spPr>
          <a:xfrm>
            <a:off x="685800" y="228600"/>
            <a:ext cx="9220199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Study hours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[[1], [2], [5], [6]]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Results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0 = Fail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1 = Pass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[0, 0, 1, 1]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Create KNN model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K = 3 means check nearest 3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neighbors</a:t>
            </a: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=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KNeighborsClassifier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n_neighbors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=3)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Train the model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model.fit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(X, y)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New student study hours</a:t>
            </a:r>
          </a:p>
          <a:p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new_student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[[4]]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Prediction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= 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model.predict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new_student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Display result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prediction[0] == 1: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print("Student may PASS")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print("Student may FAIL")ss</a:t>
            </a:r>
          </a:p>
        </p:txBody>
      </p:sp>
    </p:spTree>
    <p:extLst>
      <p:ext uri="{BB962C8B-B14F-4D97-AF65-F5344CB8AC3E}">
        <p14:creationId xmlns:p14="http://schemas.microsoft.com/office/powerpoint/2010/main" val="2329138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E79C94-CBB2-3CC2-82F2-0B5691A7741A}"/>
              </a:ext>
            </a:extLst>
          </p:cNvPr>
          <p:cNvSpPr txBox="1"/>
          <p:nvPr/>
        </p:nvSpPr>
        <p:spPr>
          <a:xfrm>
            <a:off x="228600" y="304800"/>
            <a:ext cx="112014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Data Science Techniques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 Feature Importance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Feature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Importance tells us which input features have the biggest effect on the model's prediction.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Performance Prediction</a:t>
            </a:r>
          </a:p>
          <a:p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 a model predicts whether a student will pass an exam.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Study Hours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Assignment Score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may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show:</a:t>
            </a:r>
            <a:r>
              <a:rPr lang="en-IN" sz="2400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40%, Study Hours – 30%,Marks – 20%,Assignments – 10%**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:*This means *attendance is the most important factor* in predicting whether the student will pass.*</a:t>
            </a:r>
          </a:p>
        </p:txBody>
      </p:sp>
    </p:spTree>
    <p:extLst>
      <p:ext uri="{BB962C8B-B14F-4D97-AF65-F5344CB8AC3E}">
        <p14:creationId xmlns:p14="http://schemas.microsoft.com/office/powerpoint/2010/main" val="37523090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686509-1EDD-D353-89D4-503CAA2EACDC}"/>
              </a:ext>
            </a:extLst>
          </p:cNvPr>
          <p:cNvSpPr txBox="1"/>
          <p:nvPr/>
        </p:nvSpPr>
        <p:spPr>
          <a:xfrm>
            <a:off x="533400" y="304800"/>
            <a:ext cx="103632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 </a:t>
            </a:r>
            <a:r>
              <a:rPr lang="en-IN" sz="3200" b="1" dirty="0"/>
              <a:t>2. Counterfactual Explanation</a:t>
            </a:r>
          </a:p>
          <a:p>
            <a:r>
              <a:rPr lang="en-IN" sz="3200" b="1" dirty="0" err="1"/>
              <a:t>Definition:</a:t>
            </a:r>
            <a:r>
              <a:rPr lang="en-IN" sz="3200" dirty="0" err="1"/>
              <a:t>Counterfactual</a:t>
            </a:r>
            <a:r>
              <a:rPr lang="en-IN" sz="3200" dirty="0"/>
              <a:t> Explanation tells us </a:t>
            </a:r>
          </a:p>
          <a:p>
            <a:r>
              <a:rPr lang="en-IN" sz="3200" dirty="0"/>
              <a:t>what needs to change to get a different prediction.</a:t>
            </a:r>
          </a:p>
          <a:p>
            <a:r>
              <a:rPr lang="en-IN" sz="3200" b="1" dirty="0"/>
              <a:t>Example: </a:t>
            </a:r>
            <a:r>
              <a:rPr lang="en-IN" sz="3200" dirty="0"/>
              <a:t>Loan Approval</a:t>
            </a:r>
          </a:p>
          <a:p>
            <a:r>
              <a:rPr lang="en-IN" sz="3200" dirty="0"/>
              <a:t>Current Result: Loan Rejected</a:t>
            </a:r>
          </a:p>
          <a:p>
            <a:r>
              <a:rPr lang="en-IN" sz="3200" dirty="0"/>
              <a:t> Current Income = ₹20,000</a:t>
            </a:r>
          </a:p>
          <a:p>
            <a:r>
              <a:rPr lang="en-IN" sz="3200" dirty="0"/>
              <a:t>Counterfactual Explanation:&gt; "If your income increases to *₹30,000*, your loan may be approved.“</a:t>
            </a:r>
          </a:p>
          <a:p>
            <a:r>
              <a:rPr lang="en-IN" sz="3200" b="1" dirty="0"/>
              <a:t>Why is it useful?</a:t>
            </a:r>
          </a:p>
          <a:p>
            <a:r>
              <a:rPr lang="en-IN" sz="3200" dirty="0"/>
              <a:t>t helps users know what changes are needed to achieve the desired result.</a:t>
            </a:r>
          </a:p>
        </p:txBody>
      </p:sp>
    </p:spTree>
    <p:extLst>
      <p:ext uri="{BB962C8B-B14F-4D97-AF65-F5344CB8AC3E}">
        <p14:creationId xmlns:p14="http://schemas.microsoft.com/office/powerpoint/2010/main" val="16538114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5EE8636-9A6C-85D2-14D8-A2FDD0CB76B4}"/>
              </a:ext>
            </a:extLst>
          </p:cNvPr>
          <p:cNvSpPr txBox="1"/>
          <p:nvPr/>
        </p:nvSpPr>
        <p:spPr>
          <a:xfrm>
            <a:off x="914400" y="-762000"/>
            <a:ext cx="10820400" cy="70014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endParaRPr lang="en-US" sz="3600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Explainable Data Science</a:t>
            </a:r>
          </a:p>
          <a:p>
            <a:endParaRPr lang="en-US" sz="2800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Builds Trust in AI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why a decision or prediction was made.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feel confident in using AI systems.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Better Decision-Making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understand the reasoning behind AI outputs.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Leads to more accurate and reliable decisions. </a:t>
            </a:r>
          </a:p>
        </p:txBody>
      </p:sp>
    </p:spTree>
    <p:extLst>
      <p:ext uri="{BB962C8B-B14F-4D97-AF65-F5344CB8AC3E}">
        <p14:creationId xmlns:p14="http://schemas.microsoft.com/office/powerpoint/2010/main" val="340107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FC97C13-CAE1-AF99-C9BE-F5CFD6ABF8CC}"/>
              </a:ext>
            </a:extLst>
          </p:cNvPr>
          <p:cNvSpPr txBox="1"/>
          <p:nvPr/>
        </p:nvSpPr>
        <p:spPr>
          <a:xfrm>
            <a:off x="1143000" y="304800"/>
            <a:ext cx="9829800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Trustworthiness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trust the model’s decisions.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results increase confidence in the system.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Accountability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model’s decisions can be checked and justified.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are responsible for the outcomes.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Fairness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makes unbiased and equal decisions.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treats all users or groups equally.</a:t>
            </a:r>
          </a:p>
        </p:txBody>
      </p:sp>
    </p:spTree>
    <p:extLst>
      <p:ext uri="{BB962C8B-B14F-4D97-AF65-F5344CB8AC3E}">
        <p14:creationId xmlns:p14="http://schemas.microsoft.com/office/powerpoint/2010/main" val="25498106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FD6C452-39C9-F19A-1075-2AF81702F3D1}"/>
              </a:ext>
            </a:extLst>
          </p:cNvPr>
          <p:cNvSpPr txBox="1"/>
          <p:nvPr/>
        </p:nvSpPr>
        <p:spPr>
          <a:xfrm>
            <a:off x="1219200" y="457200"/>
            <a:ext cx="9829800" cy="58318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Provides Clear Understanding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Gives insight into how results are produced.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confusion about how the model works.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Ensures Fairness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avoid unfair outcomes.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equal treatment for all users.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Easy for Everyone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results understandable even for beginners.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Non-technical users can easily use the system. </a:t>
            </a:r>
          </a:p>
        </p:txBody>
      </p:sp>
    </p:spTree>
    <p:extLst>
      <p:ext uri="{BB962C8B-B14F-4D97-AF65-F5344CB8AC3E}">
        <p14:creationId xmlns:p14="http://schemas.microsoft.com/office/powerpoint/2010/main" val="24177479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93B88-EA44-6A9B-8996-84008056E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5734E-0BBC-8B47-E153-4AB364DCE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52400"/>
            <a:ext cx="10515600" cy="685800"/>
          </a:xfrm>
        </p:spPr>
        <p:txBody>
          <a:bodyPr>
            <a:normAutofit fontScale="90000"/>
          </a:bodyPr>
          <a:lstStyle/>
          <a:p>
            <a:pPr algn="l"/>
            <a:b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4000" dirty="0"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IN" sz="4400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Features :</a:t>
            </a:r>
            <a:br>
              <a:rPr lang="en-US" sz="4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br>
              <a:rPr lang="en-US" sz="4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</a:br>
            <a:r>
              <a:rPr lang="en-US" sz="44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A5ADA2-2E1F-7FCF-9F62-8A22E41333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1100" y="838200"/>
            <a:ext cx="10515600" cy="541020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Transparency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model works in a clear and open way.</a:t>
            </a:r>
            <a:b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 can see how decisions are made.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Interpretability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of the model are easy to understand.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quickly make sense of the output.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Simplicity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simple and easy to explain.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complexity makes it easier to use and trust</a:t>
            </a:r>
            <a:r>
              <a:rPr lang="en-US" sz="2800" dirty="0"/>
              <a:t>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  <a:tabLst>
                <a:tab pos="457200" algn="l"/>
              </a:tabLst>
            </a:pPr>
            <a:endParaRPr lang="en-US" sz="2400" dirty="0">
              <a:solidFill>
                <a:schemeClr val="tx2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72078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>
            <a:noAutofit/>
          </a:bodyPr>
          <a:lstStyle/>
          <a:p>
            <a:pPr algn="l"/>
            <a:r>
              <a:rPr lang="en-GB" sz="4400" b="1" u="sng" dirty="0">
                <a:solidFill>
                  <a:schemeClr val="tx1"/>
                </a:solidFill>
                <a:latin typeface="Times New Roman" panose="02020603050405020304"/>
                <a:ea typeface="+mn-lt"/>
                <a:cs typeface="+mn-lt"/>
                <a:sym typeface="+mn-ea"/>
              </a:rPr>
              <a:t>Advantages :</a:t>
            </a:r>
            <a:endParaRPr lang="en-US" sz="4400" b="1" u="sng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38DF50-1B9E-18E0-9998-E588641C4C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0600" y="1457350"/>
            <a:ext cx="9846296" cy="4534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Builds Confidence</a:t>
            </a:r>
            <a:endParaRPr lang="en-US" sz="2800" dirty="0">
              <a:solidFill>
                <a:schemeClr val="tx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feel confident about the results.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explanations make the system more reliable.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Improves Decision-Making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smarter and more accurate decisions.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better judge and use AI outputs.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385888" y="1295400"/>
            <a:ext cx="10806112" cy="5157788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May Reduce Accuracy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Simplifying models to make them explainable can lower performance.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models often give more accurate results. </a:t>
            </a: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Hard to Explain Complex Models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AI models are too complicated to clearly explain.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decision-making process may remain unclear to users</a:t>
            </a:r>
            <a:r>
              <a:rPr lang="en-US" sz="2800" dirty="0"/>
              <a:t>.</a:t>
            </a:r>
          </a:p>
          <a:p>
            <a:pPr marL="0" lvl="0" indent="0" algn="just">
              <a:lnSpc>
                <a:spcPct val="150000"/>
              </a:lnSpc>
              <a:buNone/>
            </a:pPr>
            <a:endParaRPr lang="en-IN" sz="2800" dirty="0">
              <a:latin typeface="Times New Roman" panose="02020603050405020304" charset="0"/>
              <a:ea typeface="Cambria" panose="02040503050406030204" pitchFamily="18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219200" y="228600"/>
            <a:ext cx="8795385" cy="9080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4000" b="1" u="sng" dirty="0">
                <a:solidFill>
                  <a:schemeClr val="accent1">
                    <a:lumMod val="50000"/>
                  </a:schemeClr>
                </a:solidFill>
              </a:rPr>
              <a:t>Disadvantages :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A3E6E5-412F-73C0-C667-6656A2D15F37}"/>
              </a:ext>
            </a:extLst>
          </p:cNvPr>
          <p:cNvSpPr txBox="1"/>
          <p:nvPr/>
        </p:nvSpPr>
        <p:spPr>
          <a:xfrm>
            <a:off x="1143000" y="1066800"/>
            <a:ext cx="100584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Can Slow Down Performance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explanations may make the system slower.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computation is required to provide understandable results.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Balancing Accuracy and Explainability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to maintain both high accuracy and clear explanations.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one may negatively affect the other.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7652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11972E-81A7-07CD-A750-4B070621EBD3}"/>
              </a:ext>
            </a:extLst>
          </p:cNvPr>
          <p:cNvSpPr txBox="1"/>
          <p:nvPr/>
        </p:nvSpPr>
        <p:spPr>
          <a:xfrm>
            <a:off x="1371600" y="457200"/>
            <a:ext cx="9906000" cy="50931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en-US" dirty="0"/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Problem Solving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why a particular outcome occurred.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identify errors and improve models efficiently.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Efficiency &amp; Automation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automated decisions so users can trust them.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while ensuring the AI’s work is understandable. </a:t>
            </a:r>
          </a:p>
        </p:txBody>
      </p:sp>
    </p:spTree>
    <p:extLst>
      <p:ext uri="{BB962C8B-B14F-4D97-AF65-F5344CB8AC3E}">
        <p14:creationId xmlns:p14="http://schemas.microsoft.com/office/powerpoint/2010/main" val="3681938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DE2023-9FCB-B20D-481F-B4DDE96D2425}"/>
              </a:ext>
            </a:extLst>
          </p:cNvPr>
          <p:cNvSpPr txBox="1"/>
          <p:nvPr/>
        </p:nvSpPr>
        <p:spPr>
          <a:xfrm>
            <a:off x="762000" y="-304800"/>
            <a:ext cx="8456628" cy="6201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sz="2800" b="1" dirty="0">
              <a:solidFill>
                <a:schemeClr val="accent1">
                  <a:lumMod val="50000"/>
                </a:schemeClr>
              </a:solidFill>
            </a:endParaRPr>
          </a:p>
          <a:p>
            <a:pPr>
              <a:buNone/>
            </a:pPr>
            <a:r>
              <a:rPr lang="en-US" sz="28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Explainable Data Science</a:t>
            </a:r>
          </a:p>
          <a:p>
            <a:pPr>
              <a:buNone/>
            </a:pPr>
            <a:endParaRPr lang="en-US" sz="28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Healthcare – Disease Prediction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why a patient is at risk of a disease.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doctors understand and trust AI recommendations.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Finance – Fraud Detection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why a transaction is flagged as suspicious.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confidence in automated fraud monitoring. </a:t>
            </a:r>
          </a:p>
        </p:txBody>
      </p:sp>
    </p:spTree>
    <p:extLst>
      <p:ext uri="{BB962C8B-B14F-4D97-AF65-F5344CB8AC3E}">
        <p14:creationId xmlns:p14="http://schemas.microsoft.com/office/powerpoint/2010/main" val="2997043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37F962-9DC6-2302-8CDD-6CD9CDA4E05B}"/>
              </a:ext>
            </a:extLst>
          </p:cNvPr>
          <p:cNvSpPr txBox="1"/>
          <p:nvPr/>
        </p:nvSpPr>
        <p:spPr>
          <a:xfrm>
            <a:off x="685800" y="457200"/>
            <a:ext cx="9905999" cy="5829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3. Agriculture – Crop Prediction</a:t>
            </a:r>
            <a:endParaRPr lang="en-US" sz="2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Explains why certain crops or planting times are advised.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Helps farmers make informed decisions confidently.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4. Manufacturing – Quality Control</a:t>
            </a:r>
            <a:endParaRPr lang="en-US" sz="2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Shows why certain products are marked as defective.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Improves trust in automated inspection systems.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/>
              <a:t>5. Social Media – Sentiment Analysis</a:t>
            </a:r>
            <a:endParaRPr lang="en-US" sz="2800" dirty="0"/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Reveals why posts are classified as positive, negative, or neutral. </a:t>
            </a:r>
          </a:p>
        </p:txBody>
      </p:sp>
    </p:spTree>
    <p:extLst>
      <p:ext uri="{BB962C8B-B14F-4D97-AF65-F5344CB8AC3E}">
        <p14:creationId xmlns:p14="http://schemas.microsoft.com/office/powerpoint/2010/main" val="21408975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FCFC91-EEC5-3A14-8494-D275294C47D4}"/>
              </a:ext>
            </a:extLst>
          </p:cNvPr>
          <p:cNvSpPr txBox="1"/>
          <p:nvPr/>
        </p:nvSpPr>
        <p:spPr>
          <a:xfrm>
            <a:off x="914400" y="-533400"/>
            <a:ext cx="9753600" cy="6816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US" dirty="0"/>
            </a:br>
            <a:endParaRPr lang="en-US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2800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36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Explainable Data Science</a:t>
            </a:r>
          </a:p>
          <a:p>
            <a:pPr>
              <a:buNone/>
            </a:pPr>
            <a:endParaRPr lang="en-US" sz="3600" b="1" u="sng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Privacy Issues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Explaining AI decisions may reveal sensitive data.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balance transparency with privacy protection.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Large Data Handling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Explaining results for huge datasets is difficult.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more computing resources and time. </a:t>
            </a:r>
          </a:p>
        </p:txBody>
      </p:sp>
    </p:spTree>
    <p:extLst>
      <p:ext uri="{BB962C8B-B14F-4D97-AF65-F5344CB8AC3E}">
        <p14:creationId xmlns:p14="http://schemas.microsoft.com/office/powerpoint/2010/main" val="21255372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02AF6F-51E3-0E52-8CB5-9F880ECB3BDF}"/>
              </a:ext>
            </a:extLst>
          </p:cNvPr>
          <p:cNvSpPr txBox="1"/>
          <p:nvPr/>
        </p:nvSpPr>
        <p:spPr>
          <a:xfrm>
            <a:off x="914400" y="289679"/>
            <a:ext cx="10820400" cy="627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Complexity of Algorithms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models are too complex to explain easily.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 between accuracy and explainability.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Extra Time and Effort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explanations adds development time.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explanations can be challenging.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Incomplete Explanations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all AI decisions can be fully explained.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reasoning may remain unclear to users</a:t>
            </a:r>
            <a:r>
              <a:rPr lang="en-US" sz="2800" dirty="0"/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78454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-228600"/>
            <a:ext cx="10896600" cy="1646238"/>
          </a:xfrm>
        </p:spPr>
        <p:txBody>
          <a:bodyPr>
            <a:normAutofit/>
          </a:bodyPr>
          <a:lstStyle/>
          <a:p>
            <a:pPr algn="l"/>
            <a:r>
              <a:rPr lang="en-US" altLang="en-US" sz="3600" b="1" u="sng" dirty="0">
                <a:solidFill>
                  <a:schemeClr val="accent1">
                    <a:lumMod val="50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Future Enhancements &amp; Scope :</a:t>
            </a:r>
            <a:endParaRPr lang="en-US" sz="3600" b="1" u="sng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1" y="1904999"/>
            <a:ext cx="9372600" cy="459563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en-US" sz="2400" dirty="0"/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r>
              <a:rPr lang="en-US" altLang="en-US" sz="2400" dirty="0">
                <a:latin typeface="Times New Roman" panose="02020603050405020304" charset="0"/>
                <a:cs typeface="Times New Roman" panose="02020603050405020304" charset="0"/>
              </a:rPr>
              <a:t>      </a:t>
            </a:r>
          </a:p>
          <a:p>
            <a:pPr marL="0" indent="0">
              <a:spcBef>
                <a:spcPts val="20"/>
              </a:spcBef>
              <a:spcAft>
                <a:spcPts val="0"/>
              </a:spcAft>
              <a:buNone/>
            </a:pPr>
            <a:endParaRPr lang="en-US" altLang="en-US" sz="2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88F668C-6655-DBE8-90F8-008188EF8BB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5800" y="919373"/>
            <a:ext cx="11135360" cy="5185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Advanced Algorithms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algorithms will not only improve accuracy but also make results easier to explain.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models provide understandable reasoning along with predictions. 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AI &amp; Machine Learning Integration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AI and ML systems will include built-in explainability.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see how the system learns and why decisions are made.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8E5A39-CE37-7569-A2C6-F60FAC380670}"/>
              </a:ext>
            </a:extLst>
          </p:cNvPr>
          <p:cNvSpPr txBox="1"/>
          <p:nvPr/>
        </p:nvSpPr>
        <p:spPr>
          <a:xfrm>
            <a:off x="1066800" y="838200"/>
            <a:ext cx="10134600" cy="4985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Big Data Handling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explain insights even from very large and complex datasets.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users understand patterns in massive amounts of data.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User-Friendly Explanation Tools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will make AI reasoning easy to understand for everyone.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non-technical users can interpret results confidently.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3295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en-US" sz="4400" b="1" u="sng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Conclusion :</a:t>
            </a:r>
            <a:endParaRPr lang="en-US" sz="4400" b="1" u="sng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4068" y="1524000"/>
            <a:ext cx="11743864" cy="46626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                            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0148C56-F9DB-4A4E-EE3E-F91B6304D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788602"/>
            <a:ext cx="10820400" cy="416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understand how AI models make decisions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Increases trust and confidence in AI systems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Makes it easier to find and fix mistakes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unfair or biased outcomes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Important in fields like healthcare, banking, and education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improvements will make it more useful and easier to use 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9EDE51-E1C9-0D3B-BB97-A0D132E908A8}"/>
              </a:ext>
            </a:extLst>
          </p:cNvPr>
          <p:cNvSpPr txBox="1"/>
          <p:nvPr/>
        </p:nvSpPr>
        <p:spPr>
          <a:xfrm>
            <a:off x="3048786" y="3075057"/>
            <a:ext cx="609442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9070" marR="90170" algn="ctr">
              <a:spcBef>
                <a:spcPts val="5"/>
              </a:spcBef>
              <a:spcAft>
                <a:spcPts val="0"/>
              </a:spcAft>
            </a:pPr>
            <a:r>
              <a:rPr lang="en-US" sz="4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39632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9601</TotalTime>
  <Words>2219</Words>
  <Application>Microsoft Office PowerPoint</Application>
  <PresentationFormat>Widescreen</PresentationFormat>
  <Paragraphs>366</Paragraphs>
  <Slides>42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0" baseType="lpstr">
      <vt:lpstr>Arial</vt:lpstr>
      <vt:lpstr>Calibri</vt:lpstr>
      <vt:lpstr>Century Gothic</vt:lpstr>
      <vt:lpstr>Courier New</vt:lpstr>
      <vt:lpstr>Shonar Bangla</vt:lpstr>
      <vt:lpstr>Times New Roman</vt:lpstr>
      <vt:lpstr>Wingdings 3</vt:lpstr>
      <vt:lpstr>Ion Boardroom</vt:lpstr>
      <vt:lpstr>PowerPoint Presentation</vt:lpstr>
      <vt:lpstr>    </vt:lpstr>
      <vt:lpstr>Introduction To Data Science:</vt:lpstr>
      <vt:lpstr>Cont’d</vt:lpstr>
      <vt:lpstr>Objectives :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Features :   </vt:lpstr>
      <vt:lpstr>Advantages 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Enhancements &amp; Scope :</vt:lpstr>
      <vt:lpstr>PowerPoint Presentation</vt:lpstr>
      <vt:lpstr>Conclusion 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sagarolekar27@gmail.com</dc:creator>
  <cp:lastModifiedBy>Keerti Hosamani</cp:lastModifiedBy>
  <cp:revision>55</cp:revision>
  <dcterms:created xsi:type="dcterms:W3CDTF">2025-11-03T04:28:00Z</dcterms:created>
  <dcterms:modified xsi:type="dcterms:W3CDTF">2026-07-01T15:19:05Z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CBBCD8D8F7104851AD95937DA6597D82_12</vt:lpwstr>
  </property>
  <property fmtid="{D5CDD505-2E9C-101B-9397-08002B2CF9AE}" pid="3" name="KSOProductBuildVer">
    <vt:lpwstr>1033-12.2.0.23196</vt:lpwstr>
  </property>
</Properties>
</file>